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3.1</c:v>
                </c:pt>
                <c:pt idx="1">
                  <c:v>3.6</c:v>
                </c:pt>
                <c:pt idx="2">
                  <c:v>4.2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</a:t>
            </a:r>
          </a:p>
          <a:p>
            <a:r>
              <a:t>Introduce the agenda.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after the revenue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 · Finance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18%</a:t>
            </a:r>
          </a:p>
          <a:p>
            <a:pPr lvl="1"/>
            <a:r>
              <a:t>Enterprise grew fastest</a:t>
            </a:r>
          </a:p>
          <a:p>
            <a:r>
              <a:t>Two new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5486400" cy="3429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66560" y="1097280"/>
            <a:ext cx="4754880" cy="2194560"/>
          </a:xfrm>
          <a:prstGeom prst="roundRect">
            <a:avLst/>
          </a:prstGeom>
          <a:solidFill>
            <a:srgbClr val="8B7C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Inside a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384048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800">
                <a:solidFill>
                  <a:srgbClr val="F43F5E"/>
                </a:solidFill>
              </a:rPr>
              <a:t>Bold red </a:t>
            </a:r>
            <a:r>
              <a:rPr sz="2800">
                <a:solidFill>
                  <a:srgbClr val="FFFFFF"/>
                </a:solidFill>
              </a:rPr>
              <a:t>and plain white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0" y="164592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and after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Manual reports</a:t>
            </a:r>
          </a:p>
          <a:p>
            <a:r>
              <a:t>Weekly delays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Live dashboards</a:t>
            </a:r>
          </a:p>
          <a:p>
            <a:r>
              <a:t>Same-day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Quarterly Business Review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